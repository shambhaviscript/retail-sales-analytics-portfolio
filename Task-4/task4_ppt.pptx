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Poppins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4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29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621263" cy="771320"/>
          </a:xfrm>
          <a:custGeom>
            <a:avLst/>
            <a:gdLst/>
            <a:ahLst/>
            <a:cxnLst/>
            <a:rect r="r" b="b" t="t" l="l"/>
            <a:pathLst>
              <a:path h="771320" w="621263">
                <a:moveTo>
                  <a:pt x="0" y="0"/>
                </a:moveTo>
                <a:lnTo>
                  <a:pt x="621263" y="0"/>
                </a:lnTo>
                <a:lnTo>
                  <a:pt x="621263" y="771320"/>
                </a:lnTo>
                <a:lnTo>
                  <a:pt x="0" y="771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3909269">
            <a:off x="9774465" y="2264769"/>
            <a:ext cx="12861880" cy="3086100"/>
            <a:chOff x="0" y="0"/>
            <a:chExt cx="33874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491" cy="812800"/>
            </a:xfrm>
            <a:custGeom>
              <a:avLst/>
              <a:gdLst/>
              <a:ahLst/>
              <a:cxnLst/>
              <a:rect r="r" b="b" t="t" l="l"/>
              <a:pathLst>
                <a:path h="812800" w="3387491">
                  <a:moveTo>
                    <a:pt x="0" y="0"/>
                  </a:moveTo>
                  <a:lnTo>
                    <a:pt x="3387491" y="0"/>
                  </a:lnTo>
                  <a:lnTo>
                    <a:pt x="338749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516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8749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7787138" y="847959"/>
            <a:ext cx="13088827" cy="8229600"/>
          </a:xfrm>
          <a:custGeom>
            <a:avLst/>
            <a:gdLst/>
            <a:ahLst/>
            <a:cxnLst/>
            <a:rect r="r" b="b" t="t" l="l"/>
            <a:pathLst>
              <a:path h="8229600" w="13088827">
                <a:moveTo>
                  <a:pt x="0" y="0"/>
                </a:moveTo>
                <a:lnTo>
                  <a:pt x="13088827" y="0"/>
                </a:lnTo>
                <a:lnTo>
                  <a:pt x="1308882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618732" y="975407"/>
            <a:ext cx="9311593" cy="93115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888" y="6888"/>
              <a:ext cx="799024" cy="799024"/>
            </a:xfrm>
            <a:custGeom>
              <a:avLst/>
              <a:gdLst/>
              <a:ahLst/>
              <a:cxnLst/>
              <a:rect r="r" b="b" t="t" l="l"/>
              <a:pathLst>
                <a:path h="799024" w="799024">
                  <a:moveTo>
                    <a:pt x="411270" y="4870"/>
                  </a:moveTo>
                  <a:lnTo>
                    <a:pt x="794154" y="387754"/>
                  </a:lnTo>
                  <a:cubicBezTo>
                    <a:pt x="800648" y="394248"/>
                    <a:pt x="800648" y="404776"/>
                    <a:pt x="794154" y="411270"/>
                  </a:cubicBezTo>
                  <a:lnTo>
                    <a:pt x="411270" y="794154"/>
                  </a:lnTo>
                  <a:cubicBezTo>
                    <a:pt x="404776" y="800648"/>
                    <a:pt x="394248" y="800648"/>
                    <a:pt x="387754" y="794154"/>
                  </a:cubicBezTo>
                  <a:lnTo>
                    <a:pt x="4870" y="411270"/>
                  </a:lnTo>
                  <a:cubicBezTo>
                    <a:pt x="-1624" y="404776"/>
                    <a:pt x="-1624" y="394248"/>
                    <a:pt x="4870" y="387754"/>
                  </a:cubicBezTo>
                  <a:lnTo>
                    <a:pt x="387754" y="4870"/>
                  </a:lnTo>
                  <a:cubicBezTo>
                    <a:pt x="394248" y="-1624"/>
                    <a:pt x="404776" y="-1624"/>
                    <a:pt x="411270" y="4870"/>
                  </a:cubicBezTo>
                  <a:close/>
                </a:path>
              </a:pathLst>
            </a:custGeom>
            <a:blipFill>
              <a:blip r:embed="rId6"/>
              <a:stretch>
                <a:fillRect l="-25136" t="0" r="-25136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3153450" y="4877581"/>
            <a:ext cx="780894" cy="5030394"/>
            <a:chOff x="0" y="0"/>
            <a:chExt cx="205668" cy="13248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668" cy="1324877"/>
            </a:xfrm>
            <a:custGeom>
              <a:avLst/>
              <a:gdLst/>
              <a:ahLst/>
              <a:cxnLst/>
              <a:rect r="r" b="b" t="t" l="l"/>
              <a:pathLst>
                <a:path h="1324877" w="205668">
                  <a:moveTo>
                    <a:pt x="205668" y="0"/>
                  </a:moveTo>
                  <a:lnTo>
                    <a:pt x="205668" y="1324877"/>
                  </a:lnTo>
                  <a:lnTo>
                    <a:pt x="102834" y="1197877"/>
                  </a:lnTo>
                  <a:lnTo>
                    <a:pt x="0" y="1324877"/>
                  </a:lnTo>
                  <a:lnTo>
                    <a:pt x="0" y="0"/>
                  </a:lnTo>
                  <a:lnTo>
                    <a:pt x="205668" y="0"/>
                  </a:lnTo>
                  <a:close/>
                </a:path>
              </a:pathLst>
            </a:custGeom>
            <a:solidFill>
              <a:srgbClr val="2A477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05668" cy="1245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695841"/>
            <a:ext cx="8590032" cy="380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6"/>
              </a:lnSpc>
            </a:pPr>
            <a:r>
              <a:rPr lang="en-US" b="true" sz="7232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RETAIL S</a:t>
            </a:r>
            <a:r>
              <a:rPr lang="en-US" b="true" sz="7232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ALES ANALYSIS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9332" y="7014986"/>
            <a:ext cx="4187445" cy="679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>
                <a:solidFill>
                  <a:srgbClr val="CDCFD3"/>
                </a:solidFill>
                <a:latin typeface="Garet Bold"/>
                <a:ea typeface="Garet Bold"/>
                <a:cs typeface="Garet Bold"/>
                <a:sym typeface="Garet Bold"/>
              </a:rPr>
              <a:t>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449975"/>
            <a:ext cx="5539216" cy="123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C516A"/>
                </a:solidFill>
                <a:latin typeface="Garet"/>
                <a:ea typeface="Garet"/>
                <a:cs typeface="Garet"/>
                <a:sym typeface="Garet"/>
              </a:rPr>
              <a:t>Presented by: Shambhavi Tonsalli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C516A"/>
                </a:solidFill>
                <a:latin typeface="Garet"/>
                <a:ea typeface="Garet"/>
                <a:cs typeface="Garet"/>
                <a:sym typeface="Garet"/>
              </a:rPr>
              <a:t>ApexPlanet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C516A"/>
                </a:solidFill>
                <a:latin typeface="Garet"/>
                <a:ea typeface="Garet"/>
                <a:cs typeface="Garet"/>
                <a:sym typeface="Garet"/>
              </a:rPr>
              <a:t>Date : 30 -4-26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51410" y="981075"/>
            <a:ext cx="5511369" cy="93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27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DATA STORYTELLING &amp; STATISTICAL VALIDATION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-342279" y="2397376"/>
            <a:ext cx="18972558" cy="8229600"/>
          </a:xfrm>
          <a:custGeom>
            <a:avLst/>
            <a:gdLst/>
            <a:ahLst/>
            <a:cxnLst/>
            <a:rect r="r" b="b" t="t" l="l"/>
            <a:pathLst>
              <a:path h="8229600" w="18972558">
                <a:moveTo>
                  <a:pt x="0" y="8229600"/>
                </a:moveTo>
                <a:lnTo>
                  <a:pt x="18972558" y="8229600"/>
                </a:lnTo>
                <a:lnTo>
                  <a:pt x="18972558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-22476" r="0" b="-2247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210836" y="1623017"/>
            <a:ext cx="9778318" cy="977831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559" y="6559"/>
              <a:ext cx="799682" cy="799682"/>
            </a:xfrm>
            <a:custGeom>
              <a:avLst/>
              <a:gdLst/>
              <a:ahLst/>
              <a:cxnLst/>
              <a:rect r="r" b="b" t="t" l="l"/>
              <a:pathLst>
                <a:path h="799682" w="799682">
                  <a:moveTo>
                    <a:pt x="411038" y="4638"/>
                  </a:moveTo>
                  <a:lnTo>
                    <a:pt x="795044" y="388644"/>
                  </a:lnTo>
                  <a:cubicBezTo>
                    <a:pt x="801228" y="394828"/>
                    <a:pt x="801228" y="404854"/>
                    <a:pt x="795044" y="411038"/>
                  </a:cubicBezTo>
                  <a:lnTo>
                    <a:pt x="411038" y="795044"/>
                  </a:lnTo>
                  <a:cubicBezTo>
                    <a:pt x="404854" y="801228"/>
                    <a:pt x="394828" y="801228"/>
                    <a:pt x="388644" y="795044"/>
                  </a:cubicBezTo>
                  <a:lnTo>
                    <a:pt x="4638" y="411038"/>
                  </a:lnTo>
                  <a:cubicBezTo>
                    <a:pt x="-1546" y="404854"/>
                    <a:pt x="-1546" y="394828"/>
                    <a:pt x="4638" y="388644"/>
                  </a:cubicBezTo>
                  <a:lnTo>
                    <a:pt x="388644" y="4638"/>
                  </a:lnTo>
                  <a:cubicBezTo>
                    <a:pt x="394828" y="-1546"/>
                    <a:pt x="404854" y="-1546"/>
                    <a:pt x="411038" y="4638"/>
                  </a:cubicBezTo>
                  <a:close/>
                </a:path>
              </a:pathLst>
            </a:custGeom>
            <a:blipFill>
              <a:blip r:embed="rId4"/>
              <a:stretch>
                <a:fillRect l="-16611" t="41" r="-16611" b="41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431819" y="620893"/>
            <a:ext cx="2162710" cy="613423"/>
          </a:xfrm>
          <a:custGeom>
            <a:avLst/>
            <a:gdLst/>
            <a:ahLst/>
            <a:cxnLst/>
            <a:rect r="r" b="b" t="t" l="l"/>
            <a:pathLst>
              <a:path h="613423" w="2162710">
                <a:moveTo>
                  <a:pt x="0" y="0"/>
                </a:moveTo>
                <a:lnTo>
                  <a:pt x="2162709" y="0"/>
                </a:lnTo>
                <a:lnTo>
                  <a:pt x="2162709" y="613423"/>
                </a:lnTo>
                <a:lnTo>
                  <a:pt x="0" y="6134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693472" y="620893"/>
            <a:ext cx="2162710" cy="613423"/>
          </a:xfrm>
          <a:custGeom>
            <a:avLst/>
            <a:gdLst/>
            <a:ahLst/>
            <a:cxnLst/>
            <a:rect r="r" b="b" t="t" l="l"/>
            <a:pathLst>
              <a:path h="613423" w="2162710">
                <a:moveTo>
                  <a:pt x="2162709" y="0"/>
                </a:moveTo>
                <a:lnTo>
                  <a:pt x="0" y="0"/>
                </a:lnTo>
                <a:lnTo>
                  <a:pt x="0" y="613423"/>
                </a:lnTo>
                <a:lnTo>
                  <a:pt x="2162709" y="613423"/>
                </a:lnTo>
                <a:lnTo>
                  <a:pt x="21627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30268" y="2081254"/>
            <a:ext cx="12561225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 INTRODUCTION &amp; 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38058" y="3253476"/>
            <a:ext cx="11784792" cy="182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In today’s data-driven world, businesses rely on data not just for analysis but also for decision-making. This project focuses o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n converting raw data into meaningful insights and presenting them in a structured way.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67482" y="6337392"/>
            <a:ext cx="9834767" cy="22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To analyze sales and profit data to understand business performance</a:t>
            </a:r>
          </a:p>
          <a:p>
            <a:pPr algn="l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To identify key factors affecting profita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bility</a:t>
            </a:r>
          </a:p>
          <a:p>
            <a:pPr algn="l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To present insights using effective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data storytelling</a:t>
            </a:r>
          </a:p>
          <a:p>
            <a:pPr algn="l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To validate findings using statistical methods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85393" y="5399636"/>
            <a:ext cx="7450976" cy="5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Objectives of this project: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3067" y="517013"/>
            <a:ext cx="16905164" cy="9252975"/>
            <a:chOff x="0" y="0"/>
            <a:chExt cx="4452389" cy="24369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2389" cy="2436998"/>
            </a:xfrm>
            <a:custGeom>
              <a:avLst/>
              <a:gdLst/>
              <a:ahLst/>
              <a:cxnLst/>
              <a:rect r="r" b="b" t="t" l="l"/>
              <a:pathLst>
                <a:path h="2436998" w="4452389">
                  <a:moveTo>
                    <a:pt x="0" y="0"/>
                  </a:moveTo>
                  <a:lnTo>
                    <a:pt x="4452389" y="0"/>
                  </a:lnTo>
                  <a:lnTo>
                    <a:pt x="4452389" y="2436998"/>
                  </a:lnTo>
                  <a:lnTo>
                    <a:pt x="0" y="2436998"/>
                  </a:lnTo>
                  <a:close/>
                </a:path>
              </a:pathLst>
            </a:custGeom>
            <a:ln w="38100" cap="sq">
              <a:solidFill>
                <a:srgbClr val="3C516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52389" cy="2503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5400000">
            <a:off x="8967074" y="374783"/>
            <a:ext cx="10009018" cy="10588184"/>
          </a:xfrm>
          <a:custGeom>
            <a:avLst/>
            <a:gdLst/>
            <a:ahLst/>
            <a:cxnLst/>
            <a:rect r="r" b="b" t="t" l="l"/>
            <a:pathLst>
              <a:path h="10588184" w="10009018">
                <a:moveTo>
                  <a:pt x="10009019" y="10588184"/>
                </a:moveTo>
                <a:lnTo>
                  <a:pt x="0" y="10588184"/>
                </a:lnTo>
                <a:lnTo>
                  <a:pt x="0" y="0"/>
                </a:lnTo>
                <a:lnTo>
                  <a:pt x="10009019" y="0"/>
                </a:lnTo>
                <a:lnTo>
                  <a:pt x="10009019" y="10588184"/>
                </a:lnTo>
                <a:close/>
              </a:path>
            </a:pathLst>
          </a:custGeom>
          <a:blipFill>
            <a:blip r:embed="rId3"/>
            <a:stretch>
              <a:fillRect l="0" t="-22476" r="-143880" b="-2247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06980" y="228600"/>
            <a:ext cx="8471617" cy="847161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571" y="7571"/>
              <a:ext cx="797659" cy="797659"/>
            </a:xfrm>
            <a:custGeom>
              <a:avLst/>
              <a:gdLst/>
              <a:ahLst/>
              <a:cxnLst/>
              <a:rect r="r" b="b" t="t" l="l"/>
              <a:pathLst>
                <a:path h="797659" w="797659">
                  <a:moveTo>
                    <a:pt x="411753" y="5353"/>
                  </a:moveTo>
                  <a:lnTo>
                    <a:pt x="792305" y="385905"/>
                  </a:lnTo>
                  <a:cubicBezTo>
                    <a:pt x="799443" y="393043"/>
                    <a:pt x="799443" y="404615"/>
                    <a:pt x="792305" y="411753"/>
                  </a:cubicBezTo>
                  <a:lnTo>
                    <a:pt x="411753" y="792305"/>
                  </a:lnTo>
                  <a:cubicBezTo>
                    <a:pt x="404615" y="799443"/>
                    <a:pt x="393043" y="799443"/>
                    <a:pt x="385905" y="792305"/>
                  </a:cubicBezTo>
                  <a:lnTo>
                    <a:pt x="5353" y="411753"/>
                  </a:lnTo>
                  <a:cubicBezTo>
                    <a:pt x="-1785" y="404615"/>
                    <a:pt x="-1785" y="393043"/>
                    <a:pt x="5353" y="385905"/>
                  </a:cubicBezTo>
                  <a:lnTo>
                    <a:pt x="385905" y="5353"/>
                  </a:lnTo>
                  <a:cubicBezTo>
                    <a:pt x="393043" y="-1785"/>
                    <a:pt x="404615" y="-1785"/>
                    <a:pt x="411753" y="5353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4999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3325285" y="7187710"/>
            <a:ext cx="437686" cy="3703494"/>
          </a:xfrm>
          <a:custGeom>
            <a:avLst/>
            <a:gdLst/>
            <a:ahLst/>
            <a:cxnLst/>
            <a:rect r="r" b="b" t="t" l="l"/>
            <a:pathLst>
              <a:path h="3703494" w="437686">
                <a:moveTo>
                  <a:pt x="0" y="0"/>
                </a:moveTo>
                <a:lnTo>
                  <a:pt x="437686" y="0"/>
                </a:lnTo>
                <a:lnTo>
                  <a:pt x="437686" y="3703494"/>
                </a:lnTo>
                <a:lnTo>
                  <a:pt x="0" y="3703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27804" y="4015884"/>
            <a:ext cx="11670941" cy="294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It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includes important business attributes such as</a:t>
            </a:r>
          </a:p>
          <a:p>
            <a:pPr algn="l">
              <a:lnSpc>
                <a:spcPts val="3328"/>
              </a:lnSpc>
            </a:pP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Regional information (Central, East, South, West)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Product categories (Furniture, Office Supplies, Technology)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Sales-related metrics such as Sales, Profit, and Discount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Customer segments like Consumer, Corporate, and Home Office</a:t>
            </a: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27804" y="1461346"/>
            <a:ext cx="10278280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 DATASET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3119" y="2785000"/>
            <a:ext cx="10033862" cy="126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e dataset used in this project is a retail sales dataset containing transactional records of orders.</a:t>
            </a: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27804" y="7161292"/>
            <a:ext cx="9781658" cy="90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3C516A"/>
                </a:solidFill>
                <a:latin typeface="Garet"/>
                <a:ea typeface="Garet"/>
                <a:cs typeface="Garet"/>
                <a:sym typeface="Garet"/>
              </a:rPr>
              <a:t>This dataset</a:t>
            </a:r>
            <a:r>
              <a:rPr lang="en-US" sz="2600">
                <a:solidFill>
                  <a:srgbClr val="3C516A"/>
                </a:solidFill>
                <a:latin typeface="Garet"/>
                <a:ea typeface="Garet"/>
                <a:cs typeface="Garet"/>
                <a:sym typeface="Garet"/>
              </a:rPr>
              <a:t> helps in analyzing both revenue generation and profitability across different dimensions.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1418" y="517013"/>
            <a:ext cx="16905164" cy="9252975"/>
            <a:chOff x="0" y="0"/>
            <a:chExt cx="4452389" cy="24369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2389" cy="2436998"/>
            </a:xfrm>
            <a:custGeom>
              <a:avLst/>
              <a:gdLst/>
              <a:ahLst/>
              <a:cxnLst/>
              <a:rect r="r" b="b" t="t" l="l"/>
              <a:pathLst>
                <a:path h="2436998" w="4452389">
                  <a:moveTo>
                    <a:pt x="0" y="0"/>
                  </a:moveTo>
                  <a:lnTo>
                    <a:pt x="4452389" y="0"/>
                  </a:lnTo>
                  <a:lnTo>
                    <a:pt x="4452389" y="2436998"/>
                  </a:lnTo>
                  <a:lnTo>
                    <a:pt x="0" y="2436998"/>
                  </a:lnTo>
                  <a:close/>
                </a:path>
              </a:pathLst>
            </a:custGeom>
            <a:ln w="38100" cap="sq">
              <a:solidFill>
                <a:srgbClr val="3C516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52389" cy="2503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5400000">
            <a:off x="8840544" y="-768230"/>
            <a:ext cx="10009018" cy="10588184"/>
          </a:xfrm>
          <a:custGeom>
            <a:avLst/>
            <a:gdLst/>
            <a:ahLst/>
            <a:cxnLst/>
            <a:rect r="r" b="b" t="t" l="l"/>
            <a:pathLst>
              <a:path h="10588184" w="10009018">
                <a:moveTo>
                  <a:pt x="0" y="10588183"/>
                </a:moveTo>
                <a:lnTo>
                  <a:pt x="10009018" y="10588183"/>
                </a:lnTo>
                <a:lnTo>
                  <a:pt x="10009018" y="0"/>
                </a:lnTo>
                <a:lnTo>
                  <a:pt x="0" y="0"/>
                </a:lnTo>
                <a:lnTo>
                  <a:pt x="0" y="10588183"/>
                </a:lnTo>
                <a:close/>
              </a:path>
            </a:pathLst>
          </a:custGeom>
          <a:blipFill>
            <a:blip r:embed="rId3"/>
            <a:stretch>
              <a:fillRect l="0" t="-22476" r="-143880" b="-2247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470313" y="1028700"/>
            <a:ext cx="8045233" cy="804523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972" y="7972"/>
              <a:ext cx="796856" cy="796856"/>
            </a:xfrm>
            <a:custGeom>
              <a:avLst/>
              <a:gdLst/>
              <a:ahLst/>
              <a:cxnLst/>
              <a:rect r="r" b="b" t="t" l="l"/>
              <a:pathLst>
                <a:path h="796856" w="796856">
                  <a:moveTo>
                    <a:pt x="412037" y="5637"/>
                  </a:moveTo>
                  <a:lnTo>
                    <a:pt x="791219" y="384819"/>
                  </a:lnTo>
                  <a:cubicBezTo>
                    <a:pt x="798735" y="392335"/>
                    <a:pt x="798735" y="404521"/>
                    <a:pt x="791219" y="412037"/>
                  </a:cubicBezTo>
                  <a:lnTo>
                    <a:pt x="412037" y="791219"/>
                  </a:lnTo>
                  <a:cubicBezTo>
                    <a:pt x="404521" y="798735"/>
                    <a:pt x="392335" y="798735"/>
                    <a:pt x="384819" y="791219"/>
                  </a:cubicBezTo>
                  <a:lnTo>
                    <a:pt x="5637" y="412037"/>
                  </a:lnTo>
                  <a:cubicBezTo>
                    <a:pt x="-1879" y="404521"/>
                    <a:pt x="-1879" y="392335"/>
                    <a:pt x="5637" y="384819"/>
                  </a:cubicBezTo>
                  <a:lnTo>
                    <a:pt x="384819" y="5637"/>
                  </a:lnTo>
                  <a:cubicBezTo>
                    <a:pt x="392335" y="-1879"/>
                    <a:pt x="404521" y="-1879"/>
                    <a:pt x="412037" y="5637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95964" y="1152525"/>
            <a:ext cx="10334209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055916"/>
            <a:ext cx="9902666" cy="462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ey problems identified:</a:t>
            </a:r>
          </a:p>
          <a:p>
            <a:pPr algn="l">
              <a:lnSpc>
                <a:spcPts val="3328"/>
              </a:lnSpc>
            </a:pP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Busin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ess lacks clarit on profit performance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High sales but inconsistent profits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eed to identify key factors affecting profitability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Need to optimize discount and product strategy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The goal is to identify the root causes behind these issues and provide actionable solutions.</a:t>
            </a: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2670501" y="7912366"/>
            <a:ext cx="360766" cy="3052633"/>
          </a:xfrm>
          <a:custGeom>
            <a:avLst/>
            <a:gdLst/>
            <a:ahLst/>
            <a:cxnLst/>
            <a:rect r="r" b="b" t="t" l="l"/>
            <a:pathLst>
              <a:path h="3052633" w="360766">
                <a:moveTo>
                  <a:pt x="0" y="0"/>
                </a:moveTo>
                <a:lnTo>
                  <a:pt x="360765" y="0"/>
                </a:lnTo>
                <a:lnTo>
                  <a:pt x="360765" y="3052633"/>
                </a:lnTo>
                <a:lnTo>
                  <a:pt x="0" y="3052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63531"/>
            <a:ext cx="9902666" cy="84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The busi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ness is generating a large volume of sales but is not achieving consistent profitability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1418" y="517013"/>
            <a:ext cx="16905164" cy="9252975"/>
            <a:chOff x="0" y="0"/>
            <a:chExt cx="4452389" cy="24369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2389" cy="2436998"/>
            </a:xfrm>
            <a:custGeom>
              <a:avLst/>
              <a:gdLst/>
              <a:ahLst/>
              <a:cxnLst/>
              <a:rect r="r" b="b" t="t" l="l"/>
              <a:pathLst>
                <a:path h="2436998" w="4452389">
                  <a:moveTo>
                    <a:pt x="0" y="0"/>
                  </a:moveTo>
                  <a:lnTo>
                    <a:pt x="4452389" y="0"/>
                  </a:lnTo>
                  <a:lnTo>
                    <a:pt x="4452389" y="2436998"/>
                  </a:lnTo>
                  <a:lnTo>
                    <a:pt x="0" y="2436998"/>
                  </a:lnTo>
                  <a:close/>
                </a:path>
              </a:pathLst>
            </a:custGeom>
            <a:ln w="38100" cap="sq">
              <a:solidFill>
                <a:srgbClr val="3C516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52389" cy="2503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-10800000">
            <a:off x="-342279" y="3074557"/>
            <a:ext cx="18972558" cy="7617355"/>
          </a:xfrm>
          <a:custGeom>
            <a:avLst/>
            <a:gdLst/>
            <a:ahLst/>
            <a:cxnLst/>
            <a:rect r="r" b="b" t="t" l="l"/>
            <a:pathLst>
              <a:path h="7617355" w="18972558">
                <a:moveTo>
                  <a:pt x="0" y="7617355"/>
                </a:moveTo>
                <a:lnTo>
                  <a:pt x="18972558" y="7617355"/>
                </a:lnTo>
                <a:lnTo>
                  <a:pt x="18972558" y="0"/>
                </a:lnTo>
                <a:lnTo>
                  <a:pt x="0" y="0"/>
                </a:lnTo>
                <a:lnTo>
                  <a:pt x="0" y="7617355"/>
                </a:lnTo>
                <a:close/>
              </a:path>
            </a:pathLst>
          </a:custGeom>
          <a:blipFill>
            <a:blip r:embed="rId3"/>
            <a:stretch>
              <a:fillRect l="0" t="-32320" r="0" b="-2428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143754" y="1814379"/>
            <a:ext cx="7443921" cy="74439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616" y="8616"/>
              <a:ext cx="795568" cy="795568"/>
            </a:xfrm>
            <a:custGeom>
              <a:avLst/>
              <a:gdLst/>
              <a:ahLst/>
              <a:cxnLst/>
              <a:rect r="r" b="b" t="t" l="l"/>
              <a:pathLst>
                <a:path h="795568" w="795568">
                  <a:moveTo>
                    <a:pt x="412492" y="6092"/>
                  </a:moveTo>
                  <a:lnTo>
                    <a:pt x="789476" y="383076"/>
                  </a:lnTo>
                  <a:cubicBezTo>
                    <a:pt x="797599" y="391199"/>
                    <a:pt x="797599" y="404369"/>
                    <a:pt x="789476" y="412492"/>
                  </a:cubicBezTo>
                  <a:lnTo>
                    <a:pt x="412492" y="789476"/>
                  </a:lnTo>
                  <a:cubicBezTo>
                    <a:pt x="404369" y="797599"/>
                    <a:pt x="391199" y="797599"/>
                    <a:pt x="383076" y="789476"/>
                  </a:cubicBezTo>
                  <a:lnTo>
                    <a:pt x="6092" y="412492"/>
                  </a:lnTo>
                  <a:cubicBezTo>
                    <a:pt x="-2031" y="404369"/>
                    <a:pt x="-2031" y="391199"/>
                    <a:pt x="6092" y="383076"/>
                  </a:cubicBezTo>
                  <a:lnTo>
                    <a:pt x="383076" y="6092"/>
                  </a:lnTo>
                  <a:cubicBezTo>
                    <a:pt x="391199" y="-2031"/>
                    <a:pt x="404369" y="-2031"/>
                    <a:pt x="412492" y="6092"/>
                  </a:cubicBezTo>
                  <a:close/>
                </a:path>
              </a:pathLst>
            </a:custGeom>
            <a:blipFill>
              <a:blip r:embed="rId4"/>
              <a:stretch>
                <a:fillRect l="-24999" t="0" r="-24999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094533" y="5296561"/>
            <a:ext cx="6011706" cy="60117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0669" y="10669"/>
              <a:ext cx="791463" cy="791463"/>
            </a:xfrm>
            <a:custGeom>
              <a:avLst/>
              <a:gdLst/>
              <a:ahLst/>
              <a:cxnLst/>
              <a:rect r="r" b="b" t="t" l="l"/>
              <a:pathLst>
                <a:path h="791463" w="791463">
                  <a:moveTo>
                    <a:pt x="413943" y="7543"/>
                  </a:moveTo>
                  <a:lnTo>
                    <a:pt x="783919" y="377519"/>
                  </a:lnTo>
                  <a:cubicBezTo>
                    <a:pt x="793977" y="387577"/>
                    <a:pt x="793977" y="403885"/>
                    <a:pt x="783919" y="413943"/>
                  </a:cubicBezTo>
                  <a:lnTo>
                    <a:pt x="413943" y="783919"/>
                  </a:lnTo>
                  <a:cubicBezTo>
                    <a:pt x="403885" y="793977"/>
                    <a:pt x="387577" y="793977"/>
                    <a:pt x="377519" y="783919"/>
                  </a:cubicBezTo>
                  <a:lnTo>
                    <a:pt x="7543" y="413943"/>
                  </a:lnTo>
                  <a:cubicBezTo>
                    <a:pt x="-2515" y="403885"/>
                    <a:pt x="-2515" y="387577"/>
                    <a:pt x="7543" y="377519"/>
                  </a:cubicBezTo>
                  <a:lnTo>
                    <a:pt x="377519" y="7543"/>
                  </a:lnTo>
                  <a:cubicBezTo>
                    <a:pt x="387577" y="-2515"/>
                    <a:pt x="403885" y="-2515"/>
                    <a:pt x="413943" y="7543"/>
                  </a:cubicBezTo>
                  <a:close/>
                </a:path>
              </a:pathLst>
            </a:custGeom>
            <a:blipFill>
              <a:blip r:embed="rId5"/>
              <a:stretch>
                <a:fillRect l="0" t="-24931" r="0" b="-24931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452106"/>
            <a:ext cx="10615861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 ANALYSIS &amp; APPROACH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3559" y="2966619"/>
            <a:ext cx="11766622" cy="462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solve the problem, a structured analytical approach was followed:</a:t>
            </a:r>
          </a:p>
          <a:p>
            <a:pPr algn="l">
              <a:lnSpc>
                <a:spcPts val="3328"/>
              </a:lnSpc>
            </a:pP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Data cleaning and preprocessing to ensure accuracy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Exploratory Data Analysis (EDA) to understand patterns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Visualization using charts and dashboards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Identification of key trends and anomalies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Application of statistical techniques to validate findings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This approach ensures both insight generation and reliability.</a:t>
            </a: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5400000">
            <a:off x="9512675" y="7843630"/>
            <a:ext cx="334377" cy="2829340"/>
          </a:xfrm>
          <a:custGeom>
            <a:avLst/>
            <a:gdLst/>
            <a:ahLst/>
            <a:cxnLst/>
            <a:rect r="r" b="b" t="t" l="l"/>
            <a:pathLst>
              <a:path h="2829340" w="334377">
                <a:moveTo>
                  <a:pt x="0" y="0"/>
                </a:moveTo>
                <a:lnTo>
                  <a:pt x="334376" y="0"/>
                </a:lnTo>
                <a:lnTo>
                  <a:pt x="334376" y="2829340"/>
                </a:lnTo>
                <a:lnTo>
                  <a:pt x="0" y="2829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18972558" cy="7617355"/>
          </a:xfrm>
          <a:custGeom>
            <a:avLst/>
            <a:gdLst/>
            <a:ahLst/>
            <a:cxnLst/>
            <a:rect r="r" b="b" t="t" l="l"/>
            <a:pathLst>
              <a:path h="7617355" w="18972558">
                <a:moveTo>
                  <a:pt x="0" y="0"/>
                </a:moveTo>
                <a:lnTo>
                  <a:pt x="18972558" y="0"/>
                </a:lnTo>
                <a:lnTo>
                  <a:pt x="18972558" y="7617355"/>
                </a:lnTo>
                <a:lnTo>
                  <a:pt x="0" y="76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320" r="0" b="-2428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87405" y="-486099"/>
            <a:ext cx="7120348" cy="712034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007" y="9007"/>
              <a:ext cx="794785" cy="794785"/>
            </a:xfrm>
            <a:custGeom>
              <a:avLst/>
              <a:gdLst/>
              <a:ahLst/>
              <a:cxnLst/>
              <a:rect r="r" b="b" t="t" l="l"/>
              <a:pathLst>
                <a:path h="794785" w="794785">
                  <a:moveTo>
                    <a:pt x="412770" y="6370"/>
                  </a:moveTo>
                  <a:lnTo>
                    <a:pt x="788416" y="382016"/>
                  </a:lnTo>
                  <a:cubicBezTo>
                    <a:pt x="796909" y="390509"/>
                    <a:pt x="796909" y="404277"/>
                    <a:pt x="788416" y="412770"/>
                  </a:cubicBezTo>
                  <a:lnTo>
                    <a:pt x="412770" y="788416"/>
                  </a:lnTo>
                  <a:cubicBezTo>
                    <a:pt x="404277" y="796909"/>
                    <a:pt x="390509" y="796909"/>
                    <a:pt x="382016" y="788416"/>
                  </a:cubicBezTo>
                  <a:lnTo>
                    <a:pt x="6370" y="412770"/>
                  </a:lnTo>
                  <a:cubicBezTo>
                    <a:pt x="-2123" y="404277"/>
                    <a:pt x="-2123" y="390509"/>
                    <a:pt x="6370" y="382016"/>
                  </a:cubicBezTo>
                  <a:lnTo>
                    <a:pt x="382016" y="6370"/>
                  </a:lnTo>
                  <a:cubicBezTo>
                    <a:pt x="390509" y="-2123"/>
                    <a:pt x="404277" y="-2123"/>
                    <a:pt x="412770" y="6370"/>
                  </a:cubicBezTo>
                  <a:close/>
                </a:path>
              </a:pathLst>
            </a:custGeom>
            <a:blipFill>
              <a:blip r:embed="rId4"/>
              <a:stretch>
                <a:fillRect l="-109" t="-25070" r="-109" b="-2507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29337" y="3074075"/>
            <a:ext cx="5729963" cy="57299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193" y="11193"/>
              <a:ext cx="790414" cy="790414"/>
            </a:xfrm>
            <a:custGeom>
              <a:avLst/>
              <a:gdLst/>
              <a:ahLst/>
              <a:cxnLst/>
              <a:rect r="r" b="b" t="t" l="l"/>
              <a:pathLst>
                <a:path h="790414" w="790414">
                  <a:moveTo>
                    <a:pt x="414315" y="7915"/>
                  </a:moveTo>
                  <a:lnTo>
                    <a:pt x="782499" y="376099"/>
                  </a:lnTo>
                  <a:cubicBezTo>
                    <a:pt x="793052" y="386652"/>
                    <a:pt x="793052" y="403762"/>
                    <a:pt x="782499" y="414315"/>
                  </a:cubicBezTo>
                  <a:lnTo>
                    <a:pt x="414315" y="782499"/>
                  </a:lnTo>
                  <a:cubicBezTo>
                    <a:pt x="403762" y="793052"/>
                    <a:pt x="386652" y="793052"/>
                    <a:pt x="376099" y="782499"/>
                  </a:cubicBezTo>
                  <a:lnTo>
                    <a:pt x="7915" y="414315"/>
                  </a:lnTo>
                  <a:cubicBezTo>
                    <a:pt x="-2638" y="403762"/>
                    <a:pt x="-2638" y="386652"/>
                    <a:pt x="7915" y="376099"/>
                  </a:cubicBezTo>
                  <a:lnTo>
                    <a:pt x="376099" y="7915"/>
                  </a:lnTo>
                  <a:cubicBezTo>
                    <a:pt x="386652" y="-2638"/>
                    <a:pt x="403762" y="-2638"/>
                    <a:pt x="414315" y="7915"/>
                  </a:cubicBezTo>
                  <a:close/>
                </a:path>
              </a:pathLst>
            </a:custGeom>
            <a:blipFill>
              <a:blip r:embed="rId5"/>
              <a:stretch>
                <a:fillRect l="-25471" t="0" r="-25471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4637675" y="7925177"/>
            <a:ext cx="334377" cy="2829340"/>
          </a:xfrm>
          <a:custGeom>
            <a:avLst/>
            <a:gdLst/>
            <a:ahLst/>
            <a:cxnLst/>
            <a:rect r="r" b="b" t="t" l="l"/>
            <a:pathLst>
              <a:path h="2829340" w="334377">
                <a:moveTo>
                  <a:pt x="0" y="0"/>
                </a:moveTo>
                <a:lnTo>
                  <a:pt x="334377" y="0"/>
                </a:lnTo>
                <a:lnTo>
                  <a:pt x="334377" y="2829340"/>
                </a:lnTo>
                <a:lnTo>
                  <a:pt x="0" y="2829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0040" y="3993693"/>
            <a:ext cx="5326713" cy="5346154"/>
          </a:xfrm>
          <a:custGeom>
            <a:avLst/>
            <a:gdLst/>
            <a:ahLst/>
            <a:cxnLst/>
            <a:rect r="r" b="b" t="t" l="l"/>
            <a:pathLst>
              <a:path h="5346154" w="5326713">
                <a:moveTo>
                  <a:pt x="0" y="0"/>
                </a:moveTo>
                <a:lnTo>
                  <a:pt x="5326713" y="0"/>
                </a:lnTo>
                <a:lnTo>
                  <a:pt x="5326713" y="5346154"/>
                </a:lnTo>
                <a:lnTo>
                  <a:pt x="0" y="53461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24443" y="4037376"/>
            <a:ext cx="5326713" cy="5346154"/>
          </a:xfrm>
          <a:custGeom>
            <a:avLst/>
            <a:gdLst/>
            <a:ahLst/>
            <a:cxnLst/>
            <a:rect r="r" b="b" t="t" l="l"/>
            <a:pathLst>
              <a:path h="5346154" w="5326713">
                <a:moveTo>
                  <a:pt x="0" y="0"/>
                </a:moveTo>
                <a:lnTo>
                  <a:pt x="5326713" y="0"/>
                </a:lnTo>
                <a:lnTo>
                  <a:pt x="5326713" y="5346153"/>
                </a:lnTo>
                <a:lnTo>
                  <a:pt x="0" y="53461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4107" y="4033433"/>
            <a:ext cx="5301848" cy="530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521" b="true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2. Categ</a:t>
            </a:r>
            <a:r>
              <a:rPr lang="en-US" b="true" sz="2521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ory Analysis</a:t>
            </a:r>
          </a:p>
          <a:p>
            <a:pPr algn="l">
              <a:lnSpc>
                <a:spcPts val="3227"/>
              </a:lnSpc>
            </a:pPr>
          </a:p>
          <a:p>
            <a:pPr algn="l" marL="544468" indent="-272234" lvl="1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echnology category is most profitable</a:t>
            </a:r>
          </a:p>
          <a:p>
            <a:pPr algn="l" marL="544468" indent="-272234" lvl="1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Fur</a:t>
            </a: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niture has high sales but low profit</a:t>
            </a:r>
          </a:p>
          <a:p>
            <a:pPr algn="l" marL="544468" indent="-272234" lvl="1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fice Supplies shows moderate performance</a:t>
            </a:r>
          </a:p>
          <a:p>
            <a:pPr algn="l">
              <a:lnSpc>
                <a:spcPts val="3227"/>
              </a:lnSpc>
            </a:pPr>
          </a:p>
          <a:p>
            <a:pPr algn="l">
              <a:lnSpc>
                <a:spcPts val="3227"/>
              </a:lnSpc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Insight:</a:t>
            </a:r>
          </a:p>
          <a:p>
            <a:pPr algn="l">
              <a:lnSpc>
                <a:spcPts val="3227"/>
              </a:lnSpc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Some categories are inefficient despite strong sales</a:t>
            </a:r>
          </a:p>
          <a:p>
            <a:pPr algn="l">
              <a:lnSpc>
                <a:spcPts val="322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86715" y="4047052"/>
            <a:ext cx="5466278" cy="545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 b="true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1.Reg</a:t>
            </a:r>
            <a:r>
              <a:rPr lang="en-US" b="true" sz="2600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ional Analysis</a:t>
            </a:r>
          </a:p>
          <a:p>
            <a:pPr algn="l">
              <a:lnSpc>
                <a:spcPts val="3328"/>
              </a:lnSpc>
            </a:pP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West region has highest sales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Central region has lower profit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Profit varies significantly across regions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Insight:</a:t>
            </a: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High revenue does not always mean high profitability</a:t>
            </a: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86715" y="2225703"/>
            <a:ext cx="7556766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 KEY INSIGHTS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342279" y="-348296"/>
            <a:ext cx="18972558" cy="7061364"/>
          </a:xfrm>
          <a:custGeom>
            <a:avLst/>
            <a:gdLst/>
            <a:ahLst/>
            <a:cxnLst/>
            <a:rect r="r" b="b" t="t" l="l"/>
            <a:pathLst>
              <a:path h="7061364" w="18972558">
                <a:moveTo>
                  <a:pt x="0" y="0"/>
                </a:moveTo>
                <a:lnTo>
                  <a:pt x="18972558" y="0"/>
                </a:lnTo>
                <a:lnTo>
                  <a:pt x="18972558" y="7061364"/>
                </a:lnTo>
                <a:lnTo>
                  <a:pt x="0" y="7061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738" r="0" b="-2619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87405" y="-486099"/>
            <a:ext cx="7120348" cy="712034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007" y="9007"/>
              <a:ext cx="794785" cy="794785"/>
            </a:xfrm>
            <a:custGeom>
              <a:avLst/>
              <a:gdLst/>
              <a:ahLst/>
              <a:cxnLst/>
              <a:rect r="r" b="b" t="t" l="l"/>
              <a:pathLst>
                <a:path h="794785" w="794785">
                  <a:moveTo>
                    <a:pt x="412770" y="6370"/>
                  </a:moveTo>
                  <a:lnTo>
                    <a:pt x="788416" y="382016"/>
                  </a:lnTo>
                  <a:cubicBezTo>
                    <a:pt x="796909" y="390509"/>
                    <a:pt x="796909" y="404277"/>
                    <a:pt x="788416" y="412770"/>
                  </a:cubicBezTo>
                  <a:lnTo>
                    <a:pt x="412770" y="788416"/>
                  </a:lnTo>
                  <a:cubicBezTo>
                    <a:pt x="404277" y="796909"/>
                    <a:pt x="390509" y="796909"/>
                    <a:pt x="382016" y="788416"/>
                  </a:cubicBezTo>
                  <a:lnTo>
                    <a:pt x="6370" y="412770"/>
                  </a:lnTo>
                  <a:cubicBezTo>
                    <a:pt x="-2123" y="404277"/>
                    <a:pt x="-2123" y="390509"/>
                    <a:pt x="6370" y="382016"/>
                  </a:cubicBezTo>
                  <a:lnTo>
                    <a:pt x="382016" y="6370"/>
                  </a:lnTo>
                  <a:cubicBezTo>
                    <a:pt x="390509" y="-2123"/>
                    <a:pt x="404277" y="-2123"/>
                    <a:pt x="412770" y="6370"/>
                  </a:cubicBezTo>
                  <a:close/>
                </a:path>
              </a:pathLst>
            </a:custGeom>
            <a:blipFill>
              <a:blip r:embed="rId4"/>
              <a:stretch>
                <a:fillRect l="-109" t="-25070" r="-109" b="-2507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983552" y="3074075"/>
            <a:ext cx="5729963" cy="57299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193" y="11193"/>
              <a:ext cx="790414" cy="790414"/>
            </a:xfrm>
            <a:custGeom>
              <a:avLst/>
              <a:gdLst/>
              <a:ahLst/>
              <a:cxnLst/>
              <a:rect r="r" b="b" t="t" l="l"/>
              <a:pathLst>
                <a:path h="790414" w="790414">
                  <a:moveTo>
                    <a:pt x="414315" y="7915"/>
                  </a:moveTo>
                  <a:lnTo>
                    <a:pt x="782499" y="376099"/>
                  </a:lnTo>
                  <a:cubicBezTo>
                    <a:pt x="793052" y="386652"/>
                    <a:pt x="793052" y="403762"/>
                    <a:pt x="782499" y="414315"/>
                  </a:cubicBezTo>
                  <a:lnTo>
                    <a:pt x="414315" y="782499"/>
                  </a:lnTo>
                  <a:cubicBezTo>
                    <a:pt x="403762" y="793052"/>
                    <a:pt x="386652" y="793052"/>
                    <a:pt x="376099" y="782499"/>
                  </a:cubicBezTo>
                  <a:lnTo>
                    <a:pt x="7915" y="414315"/>
                  </a:lnTo>
                  <a:cubicBezTo>
                    <a:pt x="-2638" y="403762"/>
                    <a:pt x="-2638" y="386652"/>
                    <a:pt x="7915" y="376099"/>
                  </a:cubicBezTo>
                  <a:lnTo>
                    <a:pt x="376099" y="7915"/>
                  </a:lnTo>
                  <a:cubicBezTo>
                    <a:pt x="386652" y="-2638"/>
                    <a:pt x="403762" y="-2638"/>
                    <a:pt x="414315" y="7915"/>
                  </a:cubicBezTo>
                  <a:close/>
                </a:path>
              </a:pathLst>
            </a:custGeom>
            <a:blipFill>
              <a:blip r:embed="rId5"/>
              <a:stretch>
                <a:fillRect l="-25471" t="0" r="-25471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86702" y="3162484"/>
            <a:ext cx="5532953" cy="5553146"/>
          </a:xfrm>
          <a:custGeom>
            <a:avLst/>
            <a:gdLst/>
            <a:ahLst/>
            <a:cxnLst/>
            <a:rect r="r" b="b" t="t" l="l"/>
            <a:pathLst>
              <a:path h="5553146" w="5532953">
                <a:moveTo>
                  <a:pt x="0" y="0"/>
                </a:moveTo>
                <a:lnTo>
                  <a:pt x="5532953" y="0"/>
                </a:lnTo>
                <a:lnTo>
                  <a:pt x="5532953" y="5553146"/>
                </a:lnTo>
                <a:lnTo>
                  <a:pt x="0" y="5553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56883" y="3182386"/>
            <a:ext cx="5493294" cy="5513342"/>
          </a:xfrm>
          <a:custGeom>
            <a:avLst/>
            <a:gdLst/>
            <a:ahLst/>
            <a:cxnLst/>
            <a:rect r="r" b="b" t="t" l="l"/>
            <a:pathLst>
              <a:path h="5513342" w="5493294">
                <a:moveTo>
                  <a:pt x="0" y="0"/>
                </a:moveTo>
                <a:lnTo>
                  <a:pt x="5493294" y="0"/>
                </a:lnTo>
                <a:lnTo>
                  <a:pt x="5493294" y="5513342"/>
                </a:lnTo>
                <a:lnTo>
                  <a:pt x="0" y="55133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48329" y="3242005"/>
            <a:ext cx="5301848" cy="534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521" b="true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4.Customer Segment</a:t>
            </a:r>
            <a:r>
              <a:rPr lang="en-US" b="true" sz="2521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 Analysis</a:t>
            </a:r>
          </a:p>
          <a:p>
            <a:pPr algn="l">
              <a:lnSpc>
                <a:spcPts val="3227"/>
              </a:lnSpc>
            </a:pPr>
          </a:p>
          <a:p>
            <a:pPr algn="l" marL="544468" indent="-272234" lvl="1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Consumer segment contrib</a:t>
            </a: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tes highest sales</a:t>
            </a:r>
          </a:p>
          <a:p>
            <a:pPr algn="l" marL="544468" indent="-272234" lvl="1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Corporate segment shows stable profit</a:t>
            </a:r>
          </a:p>
          <a:p>
            <a:pPr algn="l" marL="544468" indent="-272234" lvl="1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ome Office segment has lower contribution</a:t>
            </a:r>
          </a:p>
          <a:p>
            <a:pPr algn="l">
              <a:lnSpc>
                <a:spcPts val="3227"/>
              </a:lnSpc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Insight:</a:t>
            </a:r>
          </a:p>
          <a:p>
            <a:pPr algn="l">
              <a:lnSpc>
                <a:spcPts val="3227"/>
              </a:lnSpc>
            </a:pPr>
            <a:r>
              <a:rPr lang="en-US" sz="2521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Consumer drives sales;          Corporate drives profit stability.</a:t>
            </a:r>
          </a:p>
          <a:p>
            <a:pPr algn="l">
              <a:lnSpc>
                <a:spcPts val="3227"/>
              </a:lnSpc>
            </a:pPr>
          </a:p>
          <a:p>
            <a:pPr algn="l">
              <a:lnSpc>
                <a:spcPts val="322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57256" y="3293575"/>
            <a:ext cx="5466278" cy="587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 b="true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3.D</a:t>
            </a:r>
            <a:r>
              <a:rPr lang="en-US" b="true" sz="2600">
                <a:solidFill>
                  <a:srgbClr val="3C516A"/>
                </a:solidFill>
                <a:latin typeface="Poppins Bold"/>
                <a:ea typeface="Poppins Bold"/>
                <a:cs typeface="Poppins Bold"/>
                <a:sym typeface="Poppins Bold"/>
              </a:rPr>
              <a:t>iscount Analysis</a:t>
            </a:r>
          </a:p>
          <a:p>
            <a:pPr algn="l">
              <a:lnSpc>
                <a:spcPts val="3328"/>
              </a:lnSpc>
            </a:pP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High discounts reduce profit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Discounts above 20% often lead to losses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rong negative relationship between discount and profit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Insight:</a:t>
            </a: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iscount strategy is a major    factor affecting business performance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57256" y="1895012"/>
            <a:ext cx="7556766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 KEY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1227" y="9165988"/>
            <a:ext cx="13708603" cy="72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8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A MAJ</a:t>
            </a:r>
            <a:r>
              <a:rPr lang="en-US" b="true" sz="28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OR FINDING IS THAT HIGH SALES DO NOT ALWAYS LEAD TO HIGH PROFIT, INDICATING INEFFICIENCIES IN PRICING OR COST MANAGEMENT.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4136" y="633614"/>
            <a:ext cx="16905164" cy="9252975"/>
            <a:chOff x="0" y="0"/>
            <a:chExt cx="4452389" cy="24369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2389" cy="2436998"/>
            </a:xfrm>
            <a:custGeom>
              <a:avLst/>
              <a:gdLst/>
              <a:ahLst/>
              <a:cxnLst/>
              <a:rect r="r" b="b" t="t" l="l"/>
              <a:pathLst>
                <a:path h="2436998" w="4452389">
                  <a:moveTo>
                    <a:pt x="0" y="0"/>
                  </a:moveTo>
                  <a:lnTo>
                    <a:pt x="4452389" y="0"/>
                  </a:lnTo>
                  <a:lnTo>
                    <a:pt x="4452389" y="2436998"/>
                  </a:lnTo>
                  <a:lnTo>
                    <a:pt x="0" y="2436998"/>
                  </a:lnTo>
                  <a:close/>
                </a:path>
              </a:pathLst>
            </a:custGeom>
            <a:ln w="38100" cap="sq">
              <a:solidFill>
                <a:srgbClr val="3C516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52389" cy="2503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5400000">
            <a:off x="8862410" y="259466"/>
            <a:ext cx="10009018" cy="10588184"/>
          </a:xfrm>
          <a:custGeom>
            <a:avLst/>
            <a:gdLst/>
            <a:ahLst/>
            <a:cxnLst/>
            <a:rect r="r" b="b" t="t" l="l"/>
            <a:pathLst>
              <a:path h="10588184" w="10009018">
                <a:moveTo>
                  <a:pt x="10009018" y="10588184"/>
                </a:moveTo>
                <a:lnTo>
                  <a:pt x="0" y="10588184"/>
                </a:lnTo>
                <a:lnTo>
                  <a:pt x="0" y="0"/>
                </a:lnTo>
                <a:lnTo>
                  <a:pt x="10009018" y="0"/>
                </a:lnTo>
                <a:lnTo>
                  <a:pt x="10009018" y="10588184"/>
                </a:lnTo>
                <a:close/>
              </a:path>
            </a:pathLst>
          </a:custGeom>
          <a:blipFill>
            <a:blip r:embed="rId3"/>
            <a:stretch>
              <a:fillRect l="0" t="-22476" r="-143880" b="-2247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02860" y="1421540"/>
            <a:ext cx="7443921" cy="74439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616" y="8616"/>
              <a:ext cx="795568" cy="795568"/>
            </a:xfrm>
            <a:custGeom>
              <a:avLst/>
              <a:gdLst/>
              <a:ahLst/>
              <a:cxnLst/>
              <a:rect r="r" b="b" t="t" l="l"/>
              <a:pathLst>
                <a:path h="795568" w="795568">
                  <a:moveTo>
                    <a:pt x="412492" y="6092"/>
                  </a:moveTo>
                  <a:lnTo>
                    <a:pt x="789476" y="383076"/>
                  </a:lnTo>
                  <a:cubicBezTo>
                    <a:pt x="797599" y="391199"/>
                    <a:pt x="797599" y="404369"/>
                    <a:pt x="789476" y="412492"/>
                  </a:cubicBezTo>
                  <a:lnTo>
                    <a:pt x="412492" y="789476"/>
                  </a:lnTo>
                  <a:cubicBezTo>
                    <a:pt x="404369" y="797599"/>
                    <a:pt x="391199" y="797599"/>
                    <a:pt x="383076" y="789476"/>
                  </a:cubicBezTo>
                  <a:lnTo>
                    <a:pt x="6092" y="412492"/>
                  </a:lnTo>
                  <a:cubicBezTo>
                    <a:pt x="-2031" y="404369"/>
                    <a:pt x="-2031" y="391199"/>
                    <a:pt x="6092" y="383076"/>
                  </a:cubicBezTo>
                  <a:lnTo>
                    <a:pt x="383076" y="6092"/>
                  </a:lnTo>
                  <a:cubicBezTo>
                    <a:pt x="391199" y="-2031"/>
                    <a:pt x="404369" y="-2031"/>
                    <a:pt x="412492" y="6092"/>
                  </a:cubicBezTo>
                  <a:close/>
                </a:path>
              </a:pathLst>
            </a:custGeom>
            <a:blipFill>
              <a:blip r:embed="rId4"/>
              <a:stretch>
                <a:fillRect l="-24999" t="0" r="-24999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345329" y="4109124"/>
            <a:ext cx="5432921" cy="54329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805" y="11805"/>
              <a:ext cx="789190" cy="789190"/>
            </a:xfrm>
            <a:custGeom>
              <a:avLst/>
              <a:gdLst/>
              <a:ahLst/>
              <a:cxnLst/>
              <a:rect r="r" b="b" t="t" l="l"/>
              <a:pathLst>
                <a:path h="789190" w="789190">
                  <a:moveTo>
                    <a:pt x="414748" y="8348"/>
                  </a:moveTo>
                  <a:lnTo>
                    <a:pt x="780842" y="374442"/>
                  </a:lnTo>
                  <a:cubicBezTo>
                    <a:pt x="786187" y="379787"/>
                    <a:pt x="789190" y="387036"/>
                    <a:pt x="789190" y="394595"/>
                  </a:cubicBezTo>
                  <a:cubicBezTo>
                    <a:pt x="789190" y="402154"/>
                    <a:pt x="786187" y="409403"/>
                    <a:pt x="780842" y="414748"/>
                  </a:cubicBezTo>
                  <a:lnTo>
                    <a:pt x="414748" y="780842"/>
                  </a:lnTo>
                  <a:cubicBezTo>
                    <a:pt x="409403" y="786187"/>
                    <a:pt x="402154" y="789190"/>
                    <a:pt x="394595" y="789190"/>
                  </a:cubicBezTo>
                  <a:cubicBezTo>
                    <a:pt x="387036" y="789190"/>
                    <a:pt x="379787" y="786187"/>
                    <a:pt x="374442" y="780842"/>
                  </a:cubicBezTo>
                  <a:lnTo>
                    <a:pt x="8348" y="414748"/>
                  </a:lnTo>
                  <a:cubicBezTo>
                    <a:pt x="3003" y="409403"/>
                    <a:pt x="0" y="402154"/>
                    <a:pt x="0" y="394595"/>
                  </a:cubicBezTo>
                  <a:cubicBezTo>
                    <a:pt x="0" y="387036"/>
                    <a:pt x="3003" y="379787"/>
                    <a:pt x="8348" y="374442"/>
                  </a:cubicBezTo>
                  <a:lnTo>
                    <a:pt x="374442" y="8348"/>
                  </a:lnTo>
                  <a:cubicBezTo>
                    <a:pt x="379787" y="3003"/>
                    <a:pt x="387036" y="0"/>
                    <a:pt x="394595" y="0"/>
                  </a:cubicBezTo>
                  <a:cubicBezTo>
                    <a:pt x="402154" y="0"/>
                    <a:pt x="409403" y="3003"/>
                    <a:pt x="414748" y="8348"/>
                  </a:cubicBezTo>
                  <a:close/>
                </a:path>
              </a:pathLst>
            </a:custGeom>
            <a:blipFill>
              <a:blip r:embed="rId5"/>
              <a:stretch>
                <a:fillRect l="-25853" t="0" r="-25853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3116844" y="7450790"/>
            <a:ext cx="334377" cy="2829340"/>
          </a:xfrm>
          <a:custGeom>
            <a:avLst/>
            <a:gdLst/>
            <a:ahLst/>
            <a:cxnLst/>
            <a:rect r="r" b="b" t="t" l="l"/>
            <a:pathLst>
              <a:path h="2829340" w="334377">
                <a:moveTo>
                  <a:pt x="0" y="0"/>
                </a:moveTo>
                <a:lnTo>
                  <a:pt x="334377" y="0"/>
                </a:lnTo>
                <a:lnTo>
                  <a:pt x="334377" y="2829341"/>
                </a:lnTo>
                <a:lnTo>
                  <a:pt x="0" y="28293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69362" y="1857157"/>
            <a:ext cx="11359338" cy="84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STATISTICAL VALIDATION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2098" y="3098920"/>
            <a:ext cx="9181092" cy="545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To validat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e the observed relationship between discount and profit, hypothesis testing was performed.</a:t>
            </a: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Hypotheses:</a:t>
            </a:r>
          </a:p>
          <a:p>
            <a:pPr algn="l">
              <a:lnSpc>
                <a:spcPts val="3328"/>
              </a:lnSpc>
            </a:pP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H₀: Discount has no significant impact on profit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H₁: Discount significantly impacts profit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600" i="true">
                <a:solidFill>
                  <a:srgbClr val="3C516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600" i="true">
                <a:solidFill>
                  <a:srgbClr val="3C516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 = Σ(x − x̄)(y − ȳ) / √[Σ(x − x̄)² × Σ(y − ȳ)²]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Correlation analysis was used to measure the strength of the relationship.</a:t>
            </a: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5400000">
            <a:off x="-499958" y="-408113"/>
            <a:ext cx="5886657" cy="6227285"/>
          </a:xfrm>
          <a:custGeom>
            <a:avLst/>
            <a:gdLst/>
            <a:ahLst/>
            <a:cxnLst/>
            <a:rect r="r" b="b" t="t" l="l"/>
            <a:pathLst>
              <a:path h="6227285" w="5886657">
                <a:moveTo>
                  <a:pt x="0" y="0"/>
                </a:moveTo>
                <a:lnTo>
                  <a:pt x="5886657" y="0"/>
                </a:lnTo>
                <a:lnTo>
                  <a:pt x="5886657" y="6227285"/>
                </a:lnTo>
                <a:lnTo>
                  <a:pt x="0" y="62272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2476" r="-143880" b="-2247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6225" y="609949"/>
            <a:ext cx="16905164" cy="9252975"/>
            <a:chOff x="0" y="0"/>
            <a:chExt cx="4452389" cy="24369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2389" cy="2436998"/>
            </a:xfrm>
            <a:custGeom>
              <a:avLst/>
              <a:gdLst/>
              <a:ahLst/>
              <a:cxnLst/>
              <a:rect r="r" b="b" t="t" l="l"/>
              <a:pathLst>
                <a:path h="2436998" w="4452389">
                  <a:moveTo>
                    <a:pt x="0" y="0"/>
                  </a:moveTo>
                  <a:lnTo>
                    <a:pt x="4452389" y="0"/>
                  </a:lnTo>
                  <a:lnTo>
                    <a:pt x="4452389" y="2436998"/>
                  </a:lnTo>
                  <a:lnTo>
                    <a:pt x="0" y="2436998"/>
                  </a:lnTo>
                  <a:close/>
                </a:path>
              </a:pathLst>
            </a:custGeom>
            <a:ln w="38100" cap="sq">
              <a:solidFill>
                <a:srgbClr val="3C516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52389" cy="2503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5400000">
            <a:off x="9098389" y="-1040301"/>
            <a:ext cx="10009018" cy="10588184"/>
          </a:xfrm>
          <a:custGeom>
            <a:avLst/>
            <a:gdLst/>
            <a:ahLst/>
            <a:cxnLst/>
            <a:rect r="r" b="b" t="t" l="l"/>
            <a:pathLst>
              <a:path h="10588184" w="10009018">
                <a:moveTo>
                  <a:pt x="0" y="10588184"/>
                </a:moveTo>
                <a:lnTo>
                  <a:pt x="10009019" y="10588184"/>
                </a:lnTo>
                <a:lnTo>
                  <a:pt x="10009019" y="0"/>
                </a:lnTo>
                <a:lnTo>
                  <a:pt x="0" y="0"/>
                </a:lnTo>
                <a:lnTo>
                  <a:pt x="0" y="10588184"/>
                </a:lnTo>
                <a:close/>
              </a:path>
            </a:pathLst>
          </a:custGeom>
          <a:blipFill>
            <a:blip r:embed="rId3"/>
            <a:stretch>
              <a:fillRect l="0" t="-22476" r="-143880" b="-2247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8366" y="1152525"/>
            <a:ext cx="8115300" cy="165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64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RESULTS &amp; INTERPRETATION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3507" y="3038160"/>
            <a:ext cx="9181092" cy="587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sults &amp; InterpretationThe correlation between discount and profit was found to be negative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The p-value obtained was less than 0.05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Interpretation: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The null hypothesis is rejected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There is a statistically significant relationship between discount and profit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This confirms that discount strategy plays a major role in determining profitability.</a:t>
            </a:r>
          </a:p>
          <a:p>
            <a:pPr algn="l">
              <a:lnSpc>
                <a:spcPts val="3328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2251678" y="683133"/>
            <a:ext cx="7443921" cy="74439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8616" y="8616"/>
              <a:ext cx="795568" cy="795568"/>
            </a:xfrm>
            <a:custGeom>
              <a:avLst/>
              <a:gdLst/>
              <a:ahLst/>
              <a:cxnLst/>
              <a:rect r="r" b="b" t="t" l="l"/>
              <a:pathLst>
                <a:path h="795568" w="795568">
                  <a:moveTo>
                    <a:pt x="412492" y="6092"/>
                  </a:moveTo>
                  <a:lnTo>
                    <a:pt x="789476" y="383076"/>
                  </a:lnTo>
                  <a:cubicBezTo>
                    <a:pt x="797599" y="391199"/>
                    <a:pt x="797599" y="404369"/>
                    <a:pt x="789476" y="412492"/>
                  </a:cubicBezTo>
                  <a:lnTo>
                    <a:pt x="412492" y="789476"/>
                  </a:lnTo>
                  <a:cubicBezTo>
                    <a:pt x="404369" y="797599"/>
                    <a:pt x="391199" y="797599"/>
                    <a:pt x="383076" y="789476"/>
                  </a:cubicBezTo>
                  <a:lnTo>
                    <a:pt x="6092" y="412492"/>
                  </a:lnTo>
                  <a:cubicBezTo>
                    <a:pt x="-2031" y="404369"/>
                    <a:pt x="-2031" y="391199"/>
                    <a:pt x="6092" y="383076"/>
                  </a:cubicBezTo>
                  <a:lnTo>
                    <a:pt x="383076" y="6092"/>
                  </a:lnTo>
                  <a:cubicBezTo>
                    <a:pt x="391199" y="-2031"/>
                    <a:pt x="404369" y="-2031"/>
                    <a:pt x="412492" y="6092"/>
                  </a:cubicBezTo>
                  <a:close/>
                </a:path>
              </a:pathLst>
            </a:custGeom>
            <a:blipFill>
              <a:blip r:embed="rId4"/>
              <a:stretch>
                <a:fillRect l="-24931" t="0" r="-24931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104117" y="3676082"/>
            <a:ext cx="5432921" cy="54329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1805" y="11805"/>
              <a:ext cx="789190" cy="789190"/>
            </a:xfrm>
            <a:custGeom>
              <a:avLst/>
              <a:gdLst/>
              <a:ahLst/>
              <a:cxnLst/>
              <a:rect r="r" b="b" t="t" l="l"/>
              <a:pathLst>
                <a:path h="789190" w="789190">
                  <a:moveTo>
                    <a:pt x="414748" y="8348"/>
                  </a:moveTo>
                  <a:lnTo>
                    <a:pt x="780842" y="374442"/>
                  </a:lnTo>
                  <a:cubicBezTo>
                    <a:pt x="786187" y="379787"/>
                    <a:pt x="789190" y="387036"/>
                    <a:pt x="789190" y="394595"/>
                  </a:cubicBezTo>
                  <a:cubicBezTo>
                    <a:pt x="789190" y="402154"/>
                    <a:pt x="786187" y="409403"/>
                    <a:pt x="780842" y="414748"/>
                  </a:cubicBezTo>
                  <a:lnTo>
                    <a:pt x="414748" y="780842"/>
                  </a:lnTo>
                  <a:cubicBezTo>
                    <a:pt x="409403" y="786187"/>
                    <a:pt x="402154" y="789190"/>
                    <a:pt x="394595" y="789190"/>
                  </a:cubicBezTo>
                  <a:cubicBezTo>
                    <a:pt x="387036" y="789190"/>
                    <a:pt x="379787" y="786187"/>
                    <a:pt x="374442" y="780842"/>
                  </a:cubicBezTo>
                  <a:lnTo>
                    <a:pt x="8348" y="414748"/>
                  </a:lnTo>
                  <a:cubicBezTo>
                    <a:pt x="3003" y="409403"/>
                    <a:pt x="0" y="402154"/>
                    <a:pt x="0" y="394595"/>
                  </a:cubicBezTo>
                  <a:cubicBezTo>
                    <a:pt x="0" y="387036"/>
                    <a:pt x="3003" y="379787"/>
                    <a:pt x="8348" y="374442"/>
                  </a:cubicBezTo>
                  <a:lnTo>
                    <a:pt x="374442" y="8348"/>
                  </a:lnTo>
                  <a:cubicBezTo>
                    <a:pt x="379787" y="3003"/>
                    <a:pt x="387036" y="0"/>
                    <a:pt x="394595" y="0"/>
                  </a:cubicBezTo>
                  <a:cubicBezTo>
                    <a:pt x="402154" y="0"/>
                    <a:pt x="409403" y="3003"/>
                    <a:pt x="414748" y="8348"/>
                  </a:cubicBezTo>
                  <a:close/>
                </a:path>
              </a:pathLst>
            </a:custGeom>
            <a:blipFill>
              <a:blip r:embed="rId5"/>
              <a:stretch>
                <a:fillRect l="-34566" t="0" r="-34566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-5400000">
            <a:off x="2276182" y="7669761"/>
            <a:ext cx="334377" cy="2829340"/>
          </a:xfrm>
          <a:custGeom>
            <a:avLst/>
            <a:gdLst/>
            <a:ahLst/>
            <a:cxnLst/>
            <a:rect r="r" b="b" t="t" l="l"/>
            <a:pathLst>
              <a:path h="2829340" w="334377">
                <a:moveTo>
                  <a:pt x="0" y="0"/>
                </a:moveTo>
                <a:lnTo>
                  <a:pt x="334377" y="0"/>
                </a:lnTo>
                <a:lnTo>
                  <a:pt x="334377" y="2829340"/>
                </a:lnTo>
                <a:lnTo>
                  <a:pt x="0" y="2829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4136" y="517013"/>
            <a:ext cx="16905164" cy="9282284"/>
            <a:chOff x="0" y="0"/>
            <a:chExt cx="4452389" cy="2444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2389" cy="2444717"/>
            </a:xfrm>
            <a:custGeom>
              <a:avLst/>
              <a:gdLst/>
              <a:ahLst/>
              <a:cxnLst/>
              <a:rect r="r" b="b" t="t" l="l"/>
              <a:pathLst>
                <a:path h="2444717" w="4452389">
                  <a:moveTo>
                    <a:pt x="0" y="0"/>
                  </a:moveTo>
                  <a:lnTo>
                    <a:pt x="4452389" y="0"/>
                  </a:lnTo>
                  <a:lnTo>
                    <a:pt x="4452389" y="2444717"/>
                  </a:lnTo>
                  <a:lnTo>
                    <a:pt x="0" y="2444717"/>
                  </a:lnTo>
                  <a:close/>
                </a:path>
              </a:pathLst>
            </a:custGeom>
            <a:ln w="38100" cap="sq">
              <a:solidFill>
                <a:srgbClr val="3C516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52389" cy="2511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3909269">
            <a:off x="10198019" y="2655556"/>
            <a:ext cx="12861880" cy="3086100"/>
            <a:chOff x="0" y="0"/>
            <a:chExt cx="338749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87491" cy="812800"/>
            </a:xfrm>
            <a:custGeom>
              <a:avLst/>
              <a:gdLst/>
              <a:ahLst/>
              <a:cxnLst/>
              <a:rect r="r" b="b" t="t" l="l"/>
              <a:pathLst>
                <a:path h="812800" w="3387491">
                  <a:moveTo>
                    <a:pt x="0" y="0"/>
                  </a:moveTo>
                  <a:lnTo>
                    <a:pt x="3387491" y="0"/>
                  </a:lnTo>
                  <a:lnTo>
                    <a:pt x="338749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516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38749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7850881" y="1028700"/>
            <a:ext cx="13088827" cy="8229600"/>
          </a:xfrm>
          <a:custGeom>
            <a:avLst/>
            <a:gdLst/>
            <a:ahLst/>
            <a:cxnLst/>
            <a:rect r="r" b="b" t="t" l="l"/>
            <a:pathLst>
              <a:path h="8229600" w="13088827">
                <a:moveTo>
                  <a:pt x="0" y="0"/>
                </a:moveTo>
                <a:lnTo>
                  <a:pt x="13088827" y="0"/>
                </a:lnTo>
                <a:lnTo>
                  <a:pt x="1308882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949212" y="487704"/>
            <a:ext cx="9311593" cy="93115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888" y="6888"/>
              <a:ext cx="799024" cy="799024"/>
            </a:xfrm>
            <a:custGeom>
              <a:avLst/>
              <a:gdLst/>
              <a:ahLst/>
              <a:cxnLst/>
              <a:rect r="r" b="b" t="t" l="l"/>
              <a:pathLst>
                <a:path h="799024" w="799024">
                  <a:moveTo>
                    <a:pt x="411270" y="4870"/>
                  </a:moveTo>
                  <a:lnTo>
                    <a:pt x="794154" y="387754"/>
                  </a:lnTo>
                  <a:cubicBezTo>
                    <a:pt x="800648" y="394248"/>
                    <a:pt x="800648" y="404776"/>
                    <a:pt x="794154" y="411270"/>
                  </a:cubicBezTo>
                  <a:lnTo>
                    <a:pt x="411270" y="794154"/>
                  </a:lnTo>
                  <a:cubicBezTo>
                    <a:pt x="404776" y="800648"/>
                    <a:pt x="394248" y="800648"/>
                    <a:pt x="387754" y="794154"/>
                  </a:cubicBezTo>
                  <a:lnTo>
                    <a:pt x="4870" y="411270"/>
                  </a:lnTo>
                  <a:cubicBezTo>
                    <a:pt x="-1624" y="404776"/>
                    <a:pt x="-1624" y="394248"/>
                    <a:pt x="4870" y="387754"/>
                  </a:cubicBezTo>
                  <a:lnTo>
                    <a:pt x="387754" y="4870"/>
                  </a:lnTo>
                  <a:cubicBezTo>
                    <a:pt x="394248" y="-1624"/>
                    <a:pt x="404776" y="-1624"/>
                    <a:pt x="411270" y="4870"/>
                  </a:cubicBezTo>
                  <a:close/>
                </a:path>
              </a:pathLst>
            </a:custGeom>
            <a:blipFill>
              <a:blip r:embed="rId4"/>
              <a:stretch>
                <a:fillRect l="-199" t="-2892" r="-199" b="-2892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96531" y="936794"/>
            <a:ext cx="10901902" cy="16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6300">
                <a:solidFill>
                  <a:srgbClr val="3C516A"/>
                </a:solidFill>
                <a:latin typeface="Garet Bold"/>
                <a:ea typeface="Garet Bold"/>
                <a:cs typeface="Garet Bold"/>
                <a:sym typeface="Garet Bold"/>
              </a:rPr>
              <a:t>BUSINESS RECOMMENDATIONS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531" y="3050570"/>
            <a:ext cx="9929149" cy="587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Based on the analysis, the following actions are recommended:</a:t>
            </a:r>
          </a:p>
          <a:p>
            <a:pPr algn="l">
              <a:lnSpc>
                <a:spcPts val="3328"/>
              </a:lnSpc>
            </a:pP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Reduce excessive discounting, especially beyond 20%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Focus on high-performing categories like</a:t>
            </a: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 Technology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Improve pricing strategy in low-profit categories like Furniture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Strengthen performance in weaker regions such as Central</a:t>
            </a:r>
          </a:p>
          <a:p>
            <a:pPr algn="l" marL="561353" indent="-280677" lvl="1">
              <a:lnSpc>
                <a:spcPts val="3328"/>
              </a:lnSpc>
              <a:buFont typeface="Arial"/>
              <a:buChar char="•"/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Monitor both sales and profit for balanced growth</a:t>
            </a:r>
          </a:p>
          <a:p>
            <a:pPr algn="l">
              <a:lnSpc>
                <a:spcPts val="3328"/>
              </a:lnSpc>
            </a:pPr>
          </a:p>
          <a:p>
            <a:pPr algn="l">
              <a:lnSpc>
                <a:spcPts val="3328"/>
              </a:lnSpc>
            </a:pPr>
            <a:r>
              <a:rPr lang="en-US" sz="2600">
                <a:solidFill>
                  <a:srgbClr val="3C516A"/>
                </a:solidFill>
                <a:latin typeface="Poppins"/>
                <a:ea typeface="Poppins"/>
                <a:cs typeface="Poppins"/>
                <a:sym typeface="Poppins"/>
              </a:rPr>
              <a:t>These recommendations can help improve both efficiency and profitability.</a:t>
            </a:r>
          </a:p>
          <a:p>
            <a:pPr algn="l">
              <a:lnSpc>
                <a:spcPts val="3328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-5400000">
            <a:off x="2091759" y="8195241"/>
            <a:ext cx="284944" cy="2411061"/>
          </a:xfrm>
          <a:custGeom>
            <a:avLst/>
            <a:gdLst/>
            <a:ahLst/>
            <a:cxnLst/>
            <a:rect r="r" b="b" t="t" l="l"/>
            <a:pathLst>
              <a:path h="2411061" w="284944">
                <a:moveTo>
                  <a:pt x="0" y="0"/>
                </a:moveTo>
                <a:lnTo>
                  <a:pt x="284943" y="0"/>
                </a:lnTo>
                <a:lnTo>
                  <a:pt x="284943" y="2411061"/>
                </a:lnTo>
                <a:lnTo>
                  <a:pt x="0" y="24110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2582" y="2940784"/>
            <a:ext cx="19310582" cy="7766547"/>
            <a:chOff x="0" y="0"/>
            <a:chExt cx="5085915" cy="20455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85915" cy="2045510"/>
            </a:xfrm>
            <a:custGeom>
              <a:avLst/>
              <a:gdLst/>
              <a:ahLst/>
              <a:cxnLst/>
              <a:rect r="r" b="b" t="t" l="l"/>
              <a:pathLst>
                <a:path h="2045510" w="5085915">
                  <a:moveTo>
                    <a:pt x="0" y="0"/>
                  </a:moveTo>
                  <a:lnTo>
                    <a:pt x="5085915" y="0"/>
                  </a:lnTo>
                  <a:lnTo>
                    <a:pt x="5085915" y="2045510"/>
                  </a:lnTo>
                  <a:lnTo>
                    <a:pt x="0" y="2045510"/>
                  </a:lnTo>
                  <a:close/>
                </a:path>
              </a:pathLst>
            </a:custGeom>
            <a:solidFill>
              <a:srgbClr val="2A477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085915" cy="211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-2449911"/>
            <a:ext cx="7443921" cy="7443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616" y="8616"/>
              <a:ext cx="795568" cy="795568"/>
            </a:xfrm>
            <a:custGeom>
              <a:avLst/>
              <a:gdLst/>
              <a:ahLst/>
              <a:cxnLst/>
              <a:rect r="r" b="b" t="t" l="l"/>
              <a:pathLst>
                <a:path h="795568" w="795568">
                  <a:moveTo>
                    <a:pt x="412492" y="6092"/>
                  </a:moveTo>
                  <a:lnTo>
                    <a:pt x="789476" y="383076"/>
                  </a:lnTo>
                  <a:cubicBezTo>
                    <a:pt x="797599" y="391199"/>
                    <a:pt x="797599" y="404369"/>
                    <a:pt x="789476" y="412492"/>
                  </a:cubicBezTo>
                  <a:lnTo>
                    <a:pt x="412492" y="789476"/>
                  </a:lnTo>
                  <a:cubicBezTo>
                    <a:pt x="404369" y="797599"/>
                    <a:pt x="391199" y="797599"/>
                    <a:pt x="383076" y="789476"/>
                  </a:cubicBezTo>
                  <a:lnTo>
                    <a:pt x="6092" y="412492"/>
                  </a:lnTo>
                  <a:cubicBezTo>
                    <a:pt x="-2031" y="404369"/>
                    <a:pt x="-2031" y="391199"/>
                    <a:pt x="6092" y="383076"/>
                  </a:cubicBezTo>
                  <a:lnTo>
                    <a:pt x="383076" y="6092"/>
                  </a:lnTo>
                  <a:cubicBezTo>
                    <a:pt x="391199" y="-2031"/>
                    <a:pt x="404369" y="-2031"/>
                    <a:pt x="412492" y="6092"/>
                  </a:cubicBezTo>
                  <a:close/>
                </a:path>
              </a:pathLst>
            </a:custGeom>
            <a:blipFill>
              <a:blip r:embed="rId3"/>
              <a:stretch>
                <a:fillRect l="-25342" t="0" r="-25342" b="0"/>
              </a:stretch>
            </a:blipFill>
            <a:ln w="114300" cap="sq">
              <a:solidFill>
                <a:srgbClr val="4F6A91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142561" y="1356547"/>
            <a:ext cx="6912677" cy="11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4F6A9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66707" y="5076825"/>
            <a:ext cx="17398832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project dem</a:t>
            </a: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onstrates how data can be transformed into meaningful business insights.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89168" y="5600065"/>
            <a:ext cx="17398832" cy="36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storytelling helps communicate findings effectively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Statistical validation ensures that insights are reliable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Businesses can make better decisions using data-driven strategies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Overall, the project highlights the importance of combining analysis, storytelling, and statistics.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DAHIUjqfF6s</dc:identifier>
  <dcterms:modified xsi:type="dcterms:W3CDTF">2011-08-01T06:04:30Z</dcterms:modified>
  <cp:revision>1</cp:revision>
  <dc:title>Blue and White Modern Company Profile Presentation</dc:title>
</cp:coreProperties>
</file>